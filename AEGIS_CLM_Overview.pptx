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AEGIS does, in three groups: lifecycle &amp; operations, AI &amp; intelligence, and the tools/surfaces that make it more than a CLM — a Word add-in, an assistant workspace, a prompt library, tabular bulk review, and a command centre. 21 components in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across the three camps that share AEGIS's use case, with representative tools named in each header. AEGIS is the only column that's ✓ across AI-tasks + system-of-record + grounded + explainable + on-box. Framing is fair — each camp is strong in its lane; this is positioning, not a feature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37C7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257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503920" y="502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37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CONTRACTING SUITE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234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a CLM — the full toolkit in one platform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783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management, an AI copilot that cites its sources, and the tools your team already uses.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12848"/>
            <a:ext cx="3474720" cy="3913632"/>
          </a:xfrm>
          <a:prstGeom prst="roundRect">
            <a:avLst>
              <a:gd name="adj" fmla="val 2368"/>
            </a:avLst>
          </a:prstGeom>
          <a:solidFill>
            <a:srgbClr val="1C3059"/>
          </a:solidFill>
          <a:ln w="12700">
            <a:solidFill>
              <a:srgbClr val="2E467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" y="2505456"/>
            <a:ext cx="603504" cy="603504"/>
          </a:xfrm>
          <a:prstGeom prst="ellipse">
            <a:avLst/>
          </a:prstGeom>
          <a:solidFill>
            <a:srgbClr val="37C7D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65176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250545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&amp; Operations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950976" y="3291840"/>
            <a:ext cx="2779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lifecycle state machine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triggers, SLAs &amp; escalation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+ NDA fast-lane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Approvals, chains &amp; reminders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E-signature routing (DocuSign)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&amp; renewal tracking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Auto-close on expiry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343400" y="2212848"/>
            <a:ext cx="3474720" cy="3913632"/>
          </a:xfrm>
          <a:prstGeom prst="roundRect">
            <a:avLst>
              <a:gd name="adj" fmla="val 2368"/>
            </a:avLst>
          </a:prstGeom>
          <a:solidFill>
            <a:srgbClr val="1C3059"/>
          </a:solidFill>
          <a:ln w="12700">
            <a:solidFill>
              <a:srgbClr val="2E467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636008" y="2505456"/>
            <a:ext cx="603504" cy="603504"/>
          </a:xfrm>
          <a:prstGeom prst="ellipse">
            <a:avLst/>
          </a:prstGeom>
          <a:solidFill>
            <a:srgbClr val="37C7D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65176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67528" y="250545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Intelligence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745736" y="3291840"/>
            <a:ext cx="2779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Brain: hybrid RAG + graph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Q&amp;A, per-claim citations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extraction (CUAD taxonomy)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0–100 risk score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&amp; deviation detection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redline cards (severity + fix)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 / similar-contract search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8138160" y="2212848"/>
            <a:ext cx="3474720" cy="3913632"/>
          </a:xfrm>
          <a:prstGeom prst="roundRect">
            <a:avLst>
              <a:gd name="adj" fmla="val 2368"/>
            </a:avLst>
          </a:prstGeom>
          <a:solidFill>
            <a:srgbClr val="1C3059"/>
          </a:solidFill>
          <a:ln w="12700">
            <a:solidFill>
              <a:srgbClr val="2E467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430768" y="2505456"/>
            <a:ext cx="603504" cy="603504"/>
          </a:xfrm>
          <a:prstGeom prst="ellipse">
            <a:avLst/>
          </a:prstGeom>
          <a:solidFill>
            <a:srgbClr val="37C7D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65176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62288" y="250545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Surfaces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540496" y="3291840"/>
            <a:ext cx="27797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 add-in (“Ask Aegis”)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workspace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Library (variables · versions)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bulk review (many at once)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Wall command centre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full-text search</a:t>
            </a:r>
            <a:endParaRPr lang="en-US" sz="125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log · RBAC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Integrations:  </a:t>
            </a:r>
            <a:pPr indent="0" marL="0">
              <a:buNone/>
            </a:pPr>
            <a:r>
              <a:rPr lang="en-US" sz="1100" dirty="0">
                <a:solidFill>
                  <a:srgbClr val="93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· Microsoft Word · DocuSign · Resend email · optional Voyage / Cohere for legal-domain embeddings &amp; reranking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603504" cy="603504"/>
          </a:xfrm>
          <a:prstGeom prst="ellipse">
            <a:avLst/>
          </a:prstGeom>
          <a:solidFill>
            <a:srgbClr val="37C7D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525780"/>
            <a:ext cx="310896" cy="3108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8404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503920" y="502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37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120700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AEGIS compares to the market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566928" y="175564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Look-alike tools fall into three camps. Most teams buy from two and stitch them together — AEGIS spans all three.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12848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65960"/>
                <a:gridCol w="2121408"/>
                <a:gridCol w="2121408"/>
                <a:gridCol w="2112264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E1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+ CLM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C7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legal copilots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E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Harvey · Legora · Robin AI · Spellbook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/ enterprise CLM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E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Icertis · Conga · DocuSign · Agiloft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AI-native CLM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EC0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Ironclad · Juro · Workday · LinkSquares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tasks — draft, review, Q&amp;A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Draft · review · Q&amp;A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Strong, general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Bolt-on assist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Review · extract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lifecycle &amp; system of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not a record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inside Microsoft 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Add-in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Add-ins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Doc-gen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 / 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Grounded, cited answers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Per-claim,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risk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0–100 +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Analysis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analytics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&amp; data residency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On-box · local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A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3CE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63500" marT="38100" marB="38100" anchor="ctr">
                    <a:lnL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E46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445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74243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0F4A5E"/>
          </a:solidFill>
          <a:ln w="12700">
            <a:solidFill>
              <a:srgbClr val="37C7D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5925312"/>
            <a:ext cx="384048" cy="384048"/>
          </a:xfrm>
          <a:prstGeom prst="ellipse">
            <a:avLst/>
          </a:prstGeom>
          <a:solidFill>
            <a:srgbClr val="37C7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6025896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579729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reason but don’t manage contracts; CLMs manage but bolt AI on. AEGIS does both — grounded, explainable, and on-box.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548640" y="65379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3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tools are representative, not exhaustive (also: Luminance, ContractPodAi, Sirion, Hebbia). Cells summarize headline positioning, not full feature parity; as of 2026.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— Suite &amp; Market Comparison</dc:title>
  <dc:subject>PptxGenJS Presentation</dc:subject>
  <dc:creator>AEGIS</dc:creator>
  <cp:lastModifiedBy>AEGIS</cp:lastModifiedBy>
  <cp:revision>1</cp:revision>
  <dcterms:created xsi:type="dcterms:W3CDTF">2026-07-08T07:02:52Z</dcterms:created>
  <dcterms:modified xsi:type="dcterms:W3CDTF">2026-07-08T07:02:52Z</dcterms:modified>
</cp:coreProperties>
</file>